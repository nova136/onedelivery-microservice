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390" t="0" r="-39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7620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CAF0F8">
                  <a:alpha val="95000"/>
                </a:srgbClr>
              </a:gs>
              <a:gs pos="60000">
                <a:srgbClr val="CAF0F8">
                  <a:alpha val="80000"/>
                </a:srgbClr>
              </a:gs>
              <a:gs pos="100000">
                <a:srgbClr val="CAF0F8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0800" cy="7620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635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OneDelivery —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48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Agentic AI for CS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83000"/>
            <a:ext cx="571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Architecting an end-to-end, production-grade agentic customer service platform on AWS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5880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3045E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NUSISS Practice Module</a:t>
            </a:r>
            <a:r>
              <a:rPr lang="en-US" b="false" i="false" strike="noStrike" u="none" sz="1600">
                <a:solidFill>
                  <a:srgbClr val="03045E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 | Architecting AI Systems</a:t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03045E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NCS Team 16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Customer service scaling breaks on repetitive issues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3810000"/>
          </a:xfrm>
          <a:prstGeom prst="roundRect">
            <a:avLst>
              <a:gd name="adj" fmla="val 1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080000" cy="762000"/>
          </a:xfrm>
          <a:prstGeom prst="roundRect">
            <a:avLst>
              <a:gd name="adj" fmla="val 6666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457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Repetitive queries: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Refund, logistics, and order issues overload teams.</a:t>
            </a:r>
            <a:endParaRPr lang="en-US" sz="1100"/>
          </a:p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Inefficiency: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Manual resolution is slow, inconsistent, and hard to scale.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032000"/>
            <a:ext cx="5080000" cy="3810000"/>
          </a:xfrm>
          <a:prstGeom prst="roundRect">
            <a:avLst>
              <a:gd name="adj" fmla="val 1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032000"/>
            <a:ext cx="5080000" cy="762000"/>
          </a:xfrm>
          <a:prstGeom prst="roundRect">
            <a:avLst>
              <a:gd name="adj" fmla="val 6666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222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Objective &amp; Scope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3048000"/>
            <a:ext cx="457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Autonomous CS pipeline: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From intent → action → QA.</a:t>
            </a:r>
            <a:endParaRPr lang="en-US" sz="1100"/>
          </a:p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Microservices architecture: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12 services (7 domain + 5 AI agents).</a:t>
            </a:r>
          </a:p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Traceability: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End-to-end audit trail for all decisions.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Deterministic orchestration, tool-based execution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81000" cy="381000"/>
          </a:xfrm>
          <a:prstGeom prst="ellipse">
            <a:avLst/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816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778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Orchestrator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Receives message (LangGraph)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286000"/>
            <a:ext cx="127000" cy="254000"/>
          </a:xfrm>
          <a:prstGeom prst="down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67000"/>
            <a:ext cx="381000" cy="381000"/>
          </a:xfrm>
          <a:prstGeom prst="ellipse">
            <a:avLst/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05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2667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Semantic Router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Classifies intent (Action / FAQ / etc)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175000"/>
            <a:ext cx="127000" cy="254000"/>
          </a:xfrm>
          <a:prstGeom prst="down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556000"/>
            <a:ext cx="381000" cy="381000"/>
          </a:xfrm>
          <a:prstGeom prst="ellipse">
            <a:avLst/>
          </a:prstGeom>
          <a:solidFill>
            <a:srgbClr val="48CA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594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3556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Execution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Action Agent (SOPs) or FAQ Agent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4064000"/>
            <a:ext cx="127000" cy="254000"/>
          </a:xfrm>
          <a:prstGeom prst="down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445000"/>
            <a:ext cx="381000" cy="381000"/>
          </a:xfrm>
          <a:prstGeom prst="ellipse">
            <a:avLst/>
          </a:prstGeom>
          <a:solidFill>
            <a:srgbClr val="90E0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483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70000" y="4445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Guardian Gate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Validates compliance before execution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" y="4953000"/>
            <a:ext cx="127000" cy="254000"/>
          </a:xfrm>
          <a:prstGeom prst="down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334000"/>
            <a:ext cx="381000" cy="381000"/>
          </a:xfrm>
          <a:prstGeom prst="ellipse">
            <a:avLst/>
          </a:prstGeom>
          <a:solidFill>
            <a:srgbClr val="ADE8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372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270000" y="5334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QA Agent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Async post-session scoring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2286000"/>
            <a:ext cx="5588000" cy="31496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20000"/>
              </a:srgbClr>
            </a:solidFill>
            <a:prstDash val="solid"/>
            <a:round/>
          </a:ln>
          <a:effectLst>
            <a:outerShdw dir="2700000" dist="50800" blurRad="190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"/>
          <a:srcRect l="488" r="488" t="0" b="0"/>
          <a:stretch>
            <a:fillRect/>
          </a:stretch>
        </p:blipFill>
        <p:spPr>
          <a:xfrm rot="0" flipH="false" flipV="false">
            <a:off x="6096000" y="2286000"/>
            <a:ext cx="5588000" cy="3149600"/>
          </a:xfrm>
          <a:prstGeom prst="roundRect">
            <a:avLst>
              <a:gd name="adj" fmla="val 3225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288 hours delivered across two milestones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775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5400">
                <a:solidFill>
                  <a:srgbClr val="0096C7"/>
                </a:solidFill>
                <a:latin typeface="Space Grotesk"/>
                <a:ea typeface="Space Grotesk"/>
                <a:cs typeface="Space Grotesk"/>
                <a:sym typeface="Space Grotesk"/>
              </a:rPr>
              <a:t>288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94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TOTAL HOURS INVESTED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5560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0"/>
          </a:bodyPr>
          <a:lstStyle/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Milestone 1 (144 hrs):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Repo &amp; DevOps foundation, CI/CD pipeline, NestJS/ViteJS base.</a:t>
            </a:r>
            <a:endParaRPr lang="en-US" sz="1100"/>
          </a:p>
          <a:p>
            <a:pPr algn="l" indent="-254000" marL="2540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Milestone 2 (144 hrs):</a:t>
            </a:r>
            <a:r>
              <a:rPr lang="en-US" b="false" i="false" strike="noStrike" u="none" sz="20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Agent workflows, microservices scaffold, database schema planning.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1778000"/>
            <a:ext cx="5588000" cy="4318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096000" y="2032000"/>
            <a:ext cx="508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32% schedule overrun driven by orchestration &amp; AWS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810000" cy="4318000"/>
          </a:xfrm>
          <a:prstGeom prst="roundRect">
            <a:avLst>
              <a:gd name="adj" fmla="val 1333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Overrun Drivers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3302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CAF0F8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LangGraph Complexity:</a:t>
            </a:r>
            <a:r>
              <a:rPr lang="en-US" b="false" i="false" strike="noStrike" u="none" sz="18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 State machine logic for orchestration required more iterations.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CAF0F8"/>
              </a:buClr>
              <a:buChar char="•"/>
            </a:pPr>
            <a:r>
              <a:rPr lang="en-US" b="true" i="false" strike="noStrike" u="none" sz="18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AWS Networking:</a:t>
            </a:r>
            <a:r>
              <a:rPr lang="en-US" b="false" i="false" strike="noStrike" u="none" sz="18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 VPC/ALB routing pivot and edge case handling.</a:t>
            </a:r>
          </a:p>
          <a:p>
            <a:pPr algn="l" indent="-228600" marL="228600">
              <a:lnSpc>
                <a:spcPct val="125000"/>
              </a:lnSpc>
              <a:buClr>
                <a:srgbClr val="CAF0F8"/>
              </a:buClr>
              <a:buChar char="•"/>
            </a:pPr>
            <a:r>
              <a:rPr lang="en-US" b="true" i="false" strike="noStrike" u="none" sz="18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ECS Exec:</a:t>
            </a:r>
            <a:r>
              <a:rPr lang="en-US" b="false" i="false" strike="noStrike" u="none" sz="18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 Debugging SSM permissions for container access.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1778000"/>
            <a:ext cx="6604000" cy="4318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080000" y="2032000"/>
            <a:ext cx="6096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Layered design isolates concerns &amp; enforces safe behavior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431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Presentation: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React SPA (GitHub Pages)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Gateway: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HTTP REST + WebSocket API with JWT/RBAC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AI Orchestration: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Orchestrator + privacy + moderation + router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Agent Layer: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Core agents + specialist agents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Domain Services: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7 NestJS microservices, per-service schema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Data: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RabbitMQ + PostgreSQL 17 + pgvector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External AI: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OpenAI models + LangSmith tracing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0" y="1651000"/>
            <a:ext cx="5080000" cy="4826000"/>
          </a:xfrm>
          <a:prstGeom prst="roundRect">
            <a:avLst>
              <a:gd name="adj" fmla="val 105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765" b="765"/>
          <a:stretch>
            <a:fillRect/>
          </a:stretch>
        </p:blipFill>
        <p:spPr>
          <a:xfrm rot="0" flipH="false" flipV="false">
            <a:off x="6604000" y="1778000"/>
            <a:ext cx="4572000" cy="4572000"/>
          </a:xfrm>
          <a:prstGeom prst="roundRect">
            <a:avLst>
              <a:gd name="adj" fmla="val 1111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77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 deployment on ECS Fargate with secure boundaries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4318000" cy="4826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14261" b="14261"/>
          <a:stretch>
            <a:fillRect/>
          </a:stretch>
        </p:blipFill>
        <p:spPr>
          <a:xfrm rot="0" flipH="false" flipV="false">
            <a:off x="889000" y="1651000"/>
            <a:ext cx="4064000" cy="4572000"/>
          </a:xfrm>
          <a:prstGeom prst="roundRect">
            <a:avLst>
              <a:gd name="adj" fmla="val 125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5588000" y="1778000"/>
            <a:ext cx="5842000" cy="431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Edge network: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API Gateway (HTTP + WebSocket), Lambda authorizer, ALB path routing.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Compute layer: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ECS Fargate cluster runs 12 services (agents + domain) inside VPC.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Data layer: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RDS PostgreSQL in private subnets ensuring data isolation.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Secrets injected via SSM Parameter Store at runtime.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Operations: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Observability via CloudWatch; immutable image registry via Amazon ECR.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Standardized builds + traceable deploys across 12 services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2032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2032000"/>
          </a:xfrm>
          <a:prstGeom prst="roundRect">
            <a:avLst>
              <a:gd name="adj" fmla="val 33333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0320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Single Dockerfile Template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All 12 services use a unified template with build args for uniformity across the pipeline.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778000"/>
            <a:ext cx="5080000" cy="2032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76200" cy="2032000"/>
          </a:xfrm>
          <a:prstGeom prst="roundRect">
            <a:avLst>
              <a:gd name="adj" fmla="val 33333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0320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Traceable Image Tags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Docker images are tagged with their specific Git SHA for immutable, traceable deployments.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5080000" cy="2032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76200" cy="2032000"/>
          </a:xfrm>
          <a:prstGeom prst="roundRect">
            <a:avLst>
              <a:gd name="adj" fmla="val 33333"/>
            </a:avLst>
          </a:prstGeom>
          <a:solidFill>
            <a:srgbClr val="48CA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4450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ECS Serverless Containers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Fargate execution means no EC2 management. ECS Exec enabled for secure debugging access.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191000"/>
            <a:ext cx="5080000" cy="2032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191000"/>
            <a:ext cx="76200" cy="2032000"/>
          </a:xfrm>
          <a:prstGeom prst="roundRect">
            <a:avLst>
              <a:gd name="adj" fmla="val 33333"/>
            </a:avLst>
          </a:prstGeom>
          <a:solidFill>
            <a:srgbClr val="90E0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4450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Strategic Tech Stack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NestJS monorepo for shared code. RabbitMQ for async comms. pgvector for co-located semantic search.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Orchestrator coordinates the full pipeline with guardrails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2794000"/>
            <a:ext cx="1778000" cy="228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3045E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794000"/>
            <a:ext cx="1778000" cy="101600"/>
          </a:xfrm>
          <a:prstGeom prst="roundRect">
            <a:avLst>
              <a:gd name="adj" fmla="val 2500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048000"/>
            <a:ext cx="152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Receive</a:t>
            </a: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Maintains session history in-memory by sessionId.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413000" y="3683000"/>
            <a:ext cx="254000" cy="203200"/>
          </a:xfrm>
          <a:prstGeom prst="rightArrow">
            <a:avLst/>
          </a:prstGeom>
          <a:solidFill>
            <a:srgbClr val="0096C7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94000" y="2794000"/>
            <a:ext cx="1778000" cy="228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94000" y="2794000"/>
            <a:ext cx="1778000" cy="101600"/>
          </a:xfrm>
          <a:prstGeom prst="roundRect">
            <a:avLst>
              <a:gd name="adj" fmla="val 2500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21000" y="3048000"/>
            <a:ext cx="152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Privacy</a:t>
            </a: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PII redaction occurs before any external LLM call.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683000"/>
            <a:ext cx="254000" cy="203200"/>
          </a:xfrm>
          <a:prstGeom prst="rightArrow">
            <a:avLst/>
          </a:prstGeom>
          <a:solidFill>
            <a:srgbClr val="0096C7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0" y="2794000"/>
            <a:ext cx="1778000" cy="228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8CAE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0" y="2794000"/>
            <a:ext cx="1778000" cy="101600"/>
          </a:xfrm>
          <a:prstGeom prst="roundRect">
            <a:avLst>
              <a:gd name="adj" fmla="val 25000"/>
            </a:avLst>
          </a:prstGeom>
          <a:solidFill>
            <a:srgbClr val="48CA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3048000"/>
            <a:ext cx="152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Moderation</a:t>
            </a: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Input validation + output evaluation gates.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85000" y="3683000"/>
            <a:ext cx="254000" cy="203200"/>
          </a:xfrm>
          <a:prstGeom prst="rightArrow">
            <a:avLst/>
          </a:prstGeom>
          <a:solidFill>
            <a:srgbClr val="0096C7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66000" y="2794000"/>
            <a:ext cx="1778000" cy="228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2794000"/>
            <a:ext cx="1778000" cy="101600"/>
          </a:xfrm>
          <a:prstGeom prst="roundRect">
            <a:avLst>
              <a:gd name="adj" fmla="val 25000"/>
            </a:avLst>
          </a:prstGeom>
          <a:solidFill>
            <a:srgbClr val="90E0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93000" y="3048000"/>
            <a:ext cx="152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Dispatch</a:t>
            </a: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Tools route to Logistics, Resolution, Escalate, or End.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71000" y="3683000"/>
            <a:ext cx="254000" cy="203200"/>
          </a:xfrm>
          <a:prstGeom prst="rightArrow">
            <a:avLst/>
          </a:prstGeom>
          <a:solidFill>
            <a:srgbClr val="0096C7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52000" y="2794000"/>
            <a:ext cx="2032000" cy="2286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3045E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52000" y="2794000"/>
            <a:ext cx="2032000" cy="101600"/>
          </a:xfrm>
          <a:prstGeom prst="roundRect">
            <a:avLst>
              <a:gd name="adj" fmla="val 2500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79000" y="3048000"/>
            <a:ext cx="177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Transitions</a:t>
            </a: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Deterministic flow:</a:t>
            </a:r>
            <a:b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2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ROUTE → ACT/FAQ → GUARDIAN → RESPOND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77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Specialist agents execute domain workflows with strict policies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524000" y="1778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Logistics Agent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58000" y="1778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1841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Resolution Agent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1841500"/>
            <a:ext cx="508000" cy="508000"/>
          </a:xfrm>
          <a:prstGeom prst="ellipse">
            <a:avLst/>
          </a:prstGeom>
          <a:solidFill>
            <a:srgbClr val="CAF0F8">
              <a:alpha val="100000"/>
            </a:srgbClr>
          </a:solidFill>
          <a:ln w="25400" cmpd="sng" cap="flat">
            <a:solidFill>
              <a:srgbClr val="03045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19685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VS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2667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Cancellation workflow executor.</a:t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Validates &amp; executes.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0" y="2794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CA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2857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Purpose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2667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Refund processor.</a:t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Computes math per line item.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774" flipH="false" flipV="false">
            <a:off x="1523369" y="3422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AF0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524000" y="3683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GPT-4o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(temp 0)</a:t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SOP injected at runtime.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3810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CA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8000" y="3873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58000" y="3683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GPT-4o-mini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(temp 0)</a:t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SOP injected at runtime.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774" flipH="false" flipV="false">
            <a:off x="1523369" y="4438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AF0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1524000" y="4699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Stateless with bounded iterations.</a:t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Guardian approval needed.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588000" y="4826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CA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588000" y="4889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Policy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858000" y="4699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≤ $20: requires Guardian.</a:t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&gt; $20: auto-rejected.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4774" flipH="false" flipV="false">
            <a:off x="1523369" y="5454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AF0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1524000" y="5715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Plain text: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SUCCESS or REJECTED.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588000" y="5842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CA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588000" y="5905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3045E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858000" y="5715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Structured JSON:</a:t>
            </a: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With decision summary.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Compliance and quality are independent control loops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826000" cy="4318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3045E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968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Guardian Agent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794000"/>
            <a:ext cx="4318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Dual-mode: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GATE (pre-execution) + VERIFY (post-loop).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Dual LLM: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GPT-4o for decisions, GPT-4o-mini for injection scan.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Stateful: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Tracks gatedActions + refundCount per session.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Policy: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Fail-closed on GATE.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4826000" cy="4318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778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1968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QA Agent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794000"/>
            <a:ext cx="4318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Post-session scoring: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Incidents, sentiment, and trend analysis.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Tool access: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log_incident, save_sentiment, fetch_trends.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Integration: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Receives completed sessions fire-and-forget from orchestrator.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RAI built into the workflow, not bolted on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842000" cy="431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Explainability: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Structured outputs + decision summaries returned by agents.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Transparency: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LangSmith eval suite + audit trail for Guardian and Orchestrator transitions.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Privacy: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In-process PII redaction (regex + NLP); no PII sent to LLM.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Human Oversight: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Guardian gate + Escalate tool always available.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Accountability: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sessionId/userId logs bound to all key decisions.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58000" y="1778000"/>
            <a:ext cx="4572000" cy="4318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20232" r="20232" t="0" b="0"/>
          <a:stretch>
            <a:fillRect/>
          </a:stretch>
        </p:blipFill>
        <p:spPr>
          <a:xfrm rot="0" flipH="false" flipV="false">
            <a:off x="7112000" y="2032000"/>
            <a:ext cx="4064000" cy="3810000"/>
          </a:xfrm>
          <a:prstGeom prst="roundRect">
            <a:avLst>
              <a:gd name="adj" fmla="val 1333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Threats are mapped to controls and enforced in CI/CD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1369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588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Risk Register: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Mitigations mapped for prompt injection, PII leakage, jailbreaks, and hallucination.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CI/CD Security: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Trivy, OWASP dep-check, Semgrep, SonarCloud, ZAP, and LangSmith evals.</a:t>
            </a:r>
          </a:p>
          <a:p>
            <a:pPr algn="l" indent="-228600" marL="228600">
              <a:lnSpc>
                <a:spcPct val="125000"/>
              </a:lnSpc>
              <a:buClr>
                <a:srgbClr val="023E8A"/>
              </a:buClr>
              <a:buChar char="•"/>
            </a:pPr>
            <a:r>
              <a:rPr lang="en-US" b="tru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Stage 1:</a:t>
            </a:r>
            <a:r>
              <a:rPr lang="en-US" b="false" i="false" strike="noStrike" u="none" sz="1800">
                <a:solidFill>
                  <a:srgbClr val="023E8A"/>
                </a:solidFill>
                <a:latin typeface="Inter"/>
                <a:ea typeface="Inter"/>
                <a:cs typeface="Inter"/>
                <a:sym typeface="Inter"/>
              </a:rPr>
              <a:t> Runs 6 parallel security and evaluation jobs before allowing merge.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604000" y="1397000"/>
            <a:ext cx="5080000" cy="2413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604000" y="3937000"/>
            <a:ext cx="5080000" cy="2857500"/>
          </a:xfrm>
          <a:prstGeom prst="roundRect">
            <a:avLst>
              <a:gd name="adj" fmla="val 177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386" r="386" t="0" b="0"/>
          <a:stretch>
            <a:fillRect/>
          </a:stretch>
        </p:blipFill>
        <p:spPr>
          <a:xfrm rot="0" flipH="false" flipV="false">
            <a:off x="6604000" y="3937000"/>
            <a:ext cx="5080000" cy="2857500"/>
          </a:xfrm>
          <a:prstGeom prst="roundRect">
            <a:avLst>
              <a:gd name="adj" fmla="val 1777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48CA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22860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autonomous CS flow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3556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Demo: login → chat → routing → guardian approval → JSON → QA</a:t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rPr>
              <a:t>Scenarios: happy path, blocked, FAQ via pgvector, PII redaction</a:t>
            </a:r>
          </a:p>
        </p:txBody>
      </p:sp>
      <p:cxnSp>
        <p:nvCxnSpPr>
          <p:cNvPr name="Connector 6" id="6"/>
          <p:cNvCxnSpPr/>
          <p:nvPr/>
        </p:nvCxnSpPr>
        <p:spPr>
          <a:xfrm rot="-17188" flipH="false" flipV="false">
            <a:off x="4825381" y="4819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826000" y="5080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8CAE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