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419" t="0" r="-419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318000"/>
            <a:ext cx="12192000" cy="2540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3045E">
                  <a:alpha val="0"/>
                </a:srgbClr>
              </a:gs>
              <a:gs pos="100000">
                <a:srgbClr val="03045E">
                  <a:alpha val="9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0"/>
            <a:ext cx="106680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b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54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OneDelivery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3200">
                <a:solidFill>
                  <a:srgbClr val="48CAE4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Agentic AI for Customer Service</a:t>
            </a:r>
            <a:r>
              <a:rPr lang="en-US" b="false" i="false" strike="noStrike" u="none" sz="54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90E0EF"/>
                </a:solidFill>
                <a:latin typeface="Space Grotesk"/>
                <a:ea typeface="Space Grotesk"/>
                <a:cs typeface="Space Grotesk"/>
                <a:sym typeface="Space Grotesk"/>
              </a:rPr>
              <a:t>NUS ISS Practice Module | Architecting AI Systems • Team: Yihang Chia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419" t="0" r="-419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OneDelivery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3810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304800" rIns="304800" tIns="3048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Problem</a:t>
            </a: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CS teams overwhelmed by repetitive refund, logistics, and order queries.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Manual resolution is slow, inconsistent, and hard to scale effectively.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429000" y="2222500"/>
            <a:ext cx="381000" cy="381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4445000" y="2032000"/>
            <a:ext cx="3302000" cy="3810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304800" rIns="304800" tIns="3048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Objective</a:t>
            </a: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Build a production-grade agentic AI system for autonomous interactions.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End-to-end flow: intent classification → action execution → QA.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112000" y="2222500"/>
            <a:ext cx="381000" cy="381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128000" y="2032000"/>
            <a:ext cx="3302000" cy="3810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304800" rIns="304800" tIns="3048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Scope</a:t>
            </a: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12 microservices</a:t>
            </a: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+ 5 AI Agents.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Full E2E flow via RabbitMQ decoupling.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Deployed on AWS ECS Fargate with CI/CD pipeline.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0" y="22225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419" t="0" r="-419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agents collaborate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540000"/>
            <a:ext cx="2286000" cy="1143000"/>
          </a:xfrm>
          <a:prstGeom prst="roundRect">
            <a:avLst>
              <a:gd name="adj" fmla="val 6666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Customer Message</a:t>
            </a:r>
            <a: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0E0EF"/>
                </a:solidFill>
                <a:latin typeface="DM Sans 9pt"/>
                <a:ea typeface="DM Sans 9pt"/>
                <a:cs typeface="DM Sans 9pt"/>
                <a:sym typeface="DM Sans 9pt"/>
              </a:rPr>
              <a:t>Orchestrator Agent</a:t>
            </a:r>
          </a:p>
        </p:txBody>
      </p:sp>
      <p:cxnSp>
        <p:nvCxnSpPr>
          <p:cNvPr name="Connector 5" id="5"/>
          <p:cNvCxnSpPr/>
          <p:nvPr/>
        </p:nvCxnSpPr>
        <p:spPr>
          <a:xfrm rot="-85925" flipH="false" flipV="false">
            <a:off x="3047444" y="3105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556000" y="2540000"/>
            <a:ext cx="2032000" cy="1143000"/>
          </a:xfrm>
          <a:prstGeom prst="roundRect">
            <a:avLst>
              <a:gd name="adj" fmla="val 6666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Semantic Router</a:t>
            </a:r>
            <a: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CAF0F8"/>
                </a:solidFill>
                <a:latin typeface="DM Sans 9pt"/>
                <a:ea typeface="DM Sans 9pt"/>
                <a:cs typeface="DM Sans 9pt"/>
                <a:sym typeface="DM Sans 9pt"/>
              </a:rPr>
              <a:t>Intent Classification</a:t>
            </a:r>
          </a:p>
        </p:txBody>
      </p:sp>
      <p:cxnSp>
        <p:nvCxnSpPr>
          <p:cNvPr name="Connector 7" id="7"/>
          <p:cNvCxnSpPr/>
          <p:nvPr/>
        </p:nvCxnSpPr>
        <p:spPr>
          <a:xfrm rot="-3055679" flipH="false" flipV="false">
            <a:off x="5409169" y="2407107"/>
            <a:ext cx="99190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-114549" flipH="false" flipV="false">
            <a:off x="6222471" y="2025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5588000" y="20955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ACTION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2967652" flipH="false" flipV="false">
            <a:off x="5409169" y="3803193"/>
            <a:ext cx="99190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11" id="11"/>
          <p:cNvCxnSpPr/>
          <p:nvPr/>
        </p:nvCxnSpPr>
        <p:spPr>
          <a:xfrm rot="-114549" flipH="false" flipV="false">
            <a:off x="6222471" y="4184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715000" y="38100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FAQ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1524000"/>
            <a:ext cx="2286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Action Agent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via Guardian SOP gate</a:t>
            </a:r>
          </a:p>
        </p:txBody>
      </p:sp>
      <p:cxnSp>
        <p:nvCxnSpPr>
          <p:cNvPr name="Connector 14" id="14"/>
          <p:cNvCxnSpPr/>
          <p:nvPr/>
        </p:nvCxnSpPr>
        <p:spPr>
          <a:xfrm rot="-85925" flipH="false" flipV="false">
            <a:off x="8889444" y="2025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9398000" y="15240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8CAE4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Logistics / Resolution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Execute Tool Actions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3683000"/>
            <a:ext cx="2286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FAQ Agent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pgvector Semantic Search</a:t>
            </a:r>
          </a:p>
        </p:txBody>
      </p:sp>
      <p:cxnSp>
        <p:nvCxnSpPr>
          <p:cNvPr name="Connector 17" id="17"/>
          <p:cNvCxnSpPr/>
          <p:nvPr/>
        </p:nvCxnSpPr>
        <p:spPr>
          <a:xfrm rot="5383629" flipH="false" flipV="false">
            <a:off x="9080500" y="386653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0E0EF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name="Connector 18" id="18"/>
          <p:cNvCxnSpPr/>
          <p:nvPr/>
        </p:nvCxnSpPr>
        <p:spPr>
          <a:xfrm rot="5314074" flipH="false" flipV="false">
            <a:off x="7493000" y="4946094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0E0EF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name="Connector 19" id="19"/>
          <p:cNvCxnSpPr/>
          <p:nvPr/>
        </p:nvCxnSpPr>
        <p:spPr>
          <a:xfrm rot="-38195" flipH="false" flipV="false">
            <a:off x="7746400" y="5200650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0E0EF">
                <a:alpha val="100000"/>
              </a:srgbClr>
            </a:solidFill>
            <a:prstDash val="dash"/>
            <a:round/>
            <a:headEnd type="none" w="lg" len="lg"/>
            <a:tailEnd type="triangle" w="lg" len="lg"/>
          </a:ln>
        </p:spPr>
      </p:cxnSp>
      <p:cxnSp>
        <p:nvCxnSpPr>
          <p:cNvPr name="Connector 20" id="20"/>
          <p:cNvCxnSpPr/>
          <p:nvPr/>
        </p:nvCxnSpPr>
        <p:spPr>
          <a:xfrm rot="10771352" flipH="false" flipV="false">
            <a:off x="8890609" y="5200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0E0EF">
                <a:alpha val="100000"/>
              </a:srgbClr>
            </a:solidFill>
            <a:prstDash val="dash"/>
            <a:round/>
            <a:headEnd type="none" w="lg" len="lg"/>
            <a:tailEnd type="triangle" w="lg" len="lg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112000" y="5461000"/>
            <a:ext cx="3556000" cy="762000"/>
          </a:xfrm>
          <a:prstGeom prst="roundRect">
            <a:avLst>
              <a:gd name="adj" fmla="val 10000"/>
            </a:avLst>
          </a:prstGeom>
          <a:solidFill>
            <a:srgbClr val="CAF0F8">
              <a:alpha val="100000"/>
            </a:srgbClr>
          </a:solidFill>
          <a:ln w="12700" cmpd="sng" cap="flat">
            <a:solidFill>
              <a:srgbClr val="48CAE4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QA Agent</a:t>
            </a:r>
            <a:r>
              <a:rPr lang="en-US" b="false" i="false" strike="noStrike" u="none" sz="14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 (Async Scoring)</a:t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Handoffs via RabbitMQ — No shared DB schema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419" t="0" r="-419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Effort to date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6350000" cy="4318000"/>
          </a:xfrm>
          <a:prstGeom prst="roundRect">
            <a:avLst>
              <a:gd name="adj" fmla="val 235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2032000"/>
            <a:ext cx="5842000" cy="381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366000" y="1778000"/>
            <a:ext cx="4064000" cy="4318000"/>
          </a:xfrm>
          <a:prstGeom prst="roundRect">
            <a:avLst>
              <a:gd name="adj" fmla="val 250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0" y="2032000"/>
            <a:ext cx="3556000" cy="381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Key Overruns (~32%)</a:t>
            </a: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0096C7"/>
                </a:solidFill>
                <a:latin typeface="DM Sans 9pt"/>
                <a:ea typeface="DM Sans 9pt"/>
                <a:cs typeface="DM Sans 9pt"/>
                <a:sym typeface="DM Sans 9pt"/>
              </a:rPr>
              <a:t>1. LangGraph Complexity</a:t>
            </a: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State machine transitions and deterministic routing logic required extra tuning.</a:t>
            </a: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0096C7"/>
                </a:solidFill>
                <a:latin typeface="DM Sans 9pt"/>
                <a:ea typeface="DM Sans 9pt"/>
                <a:cs typeface="DM Sans 9pt"/>
                <a:sym typeface="DM Sans 9pt"/>
              </a:rPr>
              <a:t>2. AWS Networking</a:t>
            </a: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Pivoting from VPC Link to direct ALB DNS for internal routing caused delays.</a:t>
            </a: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0096C7"/>
                </a:solidFill>
                <a:latin typeface="DM Sans 9pt"/>
                <a:ea typeface="DM Sans 9pt"/>
                <a:cs typeface="DM Sans 9pt"/>
                <a:sym typeface="DM Sans 9pt"/>
              </a:rPr>
              <a:t>3. ECS Exec Debugging</a:t>
            </a:r>
            <a:r>
              <a:rPr lang="en-US" b="false" i="false" strike="noStrike" u="none" sz="18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SSM permissions and policy configurations for production container access.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419" t="0" r="-419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Logical architecture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635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Presentation:</a:t>
            </a:r>
            <a:r>
              <a:rPr lang="en-US" b="false" i="false" strike="noStrike" u="none" sz="16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 Browser / Mobile App + React SPA (GitHub Pages)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540000"/>
            <a:ext cx="10668000" cy="635000"/>
          </a:xfrm>
          <a:prstGeom prst="roundRect">
            <a:avLst>
              <a:gd name="adj" fmla="val 12000"/>
            </a:avLst>
          </a:prstGeom>
          <a:solidFill>
            <a:srgbClr val="CAF0F8">
              <a:alpha val="100000"/>
            </a:srgbClr>
          </a:solidFill>
          <a:ln w="12700" cmpd="sng" cap="flat">
            <a:solidFill>
              <a:srgbClr val="48CAE4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Gateway:</a:t>
            </a:r>
            <a:r>
              <a:rPr lang="en-US" b="false" i="false" strike="noStrike" u="none" sz="16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 HTTP REST API (CORS, JWT) + WebSocket API (JWT + RBAC authorizer)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30200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90E0EF">
              <a:alpha val="100000"/>
            </a:srgbClr>
          </a:solidFill>
          <a:ln w="12700" cmpd="sng" cap="flat">
            <a:solidFill>
              <a:srgbClr val="0096C7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AI Orchestration</a:t>
            </a:r>
            <a:r>
              <a:rPr lang="en-US" b="false" i="false" strike="noStrike" u="none" sz="16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Orchestrator Agent (LangGraph) • Privacy Service • Moderation Guard • Semantic Router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19100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0096C7">
              <a:alpha val="100000"/>
            </a:srgbClr>
          </a:solidFill>
          <a:ln w="12700" cmpd="sng" cap="flat">
            <a:solidFill>
              <a:srgbClr val="03045E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AI Agent Layer</a:t>
            </a:r>
            <a: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AF0F8"/>
                </a:solidFill>
                <a:latin typeface="DM Sans 9pt"/>
                <a:ea typeface="DM Sans 9pt"/>
                <a:cs typeface="DM Sans 9pt"/>
                <a:sym typeface="DM Sans 9pt"/>
              </a:rPr>
              <a:t>Action (GPT-4o) • FAQ (GPT-4o-mini) • Logistics • Resolution • Guardian • QA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5080000"/>
            <a:ext cx="5207000" cy="889000"/>
          </a:xfrm>
          <a:prstGeom prst="roundRect">
            <a:avLst>
              <a:gd name="adj" fmla="val 8571"/>
            </a:avLst>
          </a:prstGeom>
          <a:solidFill>
            <a:srgbClr val="023E8A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Domain Services</a:t>
            </a:r>
            <a: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AF0F8"/>
                </a:solidFill>
                <a:latin typeface="DM Sans 9pt"/>
                <a:ea typeface="DM Sans 9pt"/>
                <a:cs typeface="DM Sans 9pt"/>
                <a:sym typeface="DM Sans 9pt"/>
              </a:rPr>
              <a:t>7 NestJS microservices + TypeORM schemas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5080000"/>
            <a:ext cx="5207000" cy="889000"/>
          </a:xfrm>
          <a:prstGeom prst="roundRect">
            <a:avLst>
              <a:gd name="adj" fmla="val 8571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Data &amp; External</a:t>
            </a:r>
            <a: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AF0F8"/>
                </a:solidFill>
                <a:latin typeface="DM Sans 9pt"/>
                <a:ea typeface="DM Sans 9pt"/>
                <a:cs typeface="DM Sans 9pt"/>
                <a:sym typeface="DM Sans 9pt"/>
              </a:rPr>
              <a:t>RabbitMQ • PostgreSQL 17 + pgvector • OpenAI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6159500"/>
            <a:ext cx="10668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dash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Key Patterns: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Saga (Refund) • Publisher/Subscriber (RabbitMQ) • Chain of Responsibility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419" t="0" r="-419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Physical architecture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02000" cy="4064000"/>
          </a:xfrm>
          <a:prstGeom prst="roundRect">
            <a:avLst>
              <a:gd name="adj" fmla="val 2307"/>
            </a:avLst>
          </a:prstGeom>
          <a:solidFill>
            <a:srgbClr val="FFFFFF">
              <a:alpha val="90000"/>
            </a:srgbClr>
          </a:solidFill>
          <a:ln w="25400" cmpd="sng" cap="flat">
            <a:solidFill>
              <a:srgbClr val="90E0EF">
                <a:alpha val="100000"/>
              </a:srgbClr>
            </a:solidFill>
            <a:prstDash val="dash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54000" rIns="254000" tIns="2540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1. Edge &amp; Routing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HTTP Traffic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Browser → API GW → ALB → ECS (path-based routing)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WebSocket Traffic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Browser → WS API GW → Lambda Auth → RabbitMQ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191000" y="3683000"/>
            <a:ext cx="508000" cy="304800"/>
          </a:xfrm>
          <a:prstGeom prst="rightArrow">
            <a:avLst/>
          </a:prstGeom>
          <a:solidFill>
            <a:srgbClr val="0096C7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1905000"/>
            <a:ext cx="3302000" cy="4064000"/>
          </a:xfrm>
          <a:prstGeom prst="roundRect">
            <a:avLst>
              <a:gd name="adj" fmla="val 2307"/>
            </a:avLst>
          </a:prstGeom>
          <a:solidFill>
            <a:srgbClr val="CAF0F8">
              <a:alpha val="90000"/>
            </a:srgbClr>
          </a:solidFill>
          <a:ln w="25400" cmpd="sng" cap="flat">
            <a:solidFill>
              <a:srgbClr val="0096C7">
                <a:alpha val="100000"/>
              </a:srgbClr>
            </a:solidFill>
            <a:prstDash val="dash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54000" rIns="254000" tIns="2540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2. Compute Layer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AWS ECS Fargate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12 Serverless Microservices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Agentic Handoff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Orchestrator → RabbitMQ → Specialist Agents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Guardian Gate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Resolution Agent ↔ Guardian compliance check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0" y="3683000"/>
            <a:ext cx="508000" cy="304800"/>
          </a:xfrm>
          <a:prstGeom prst="rightArrow">
            <a:avLst/>
          </a:prstGeom>
          <a:solidFill>
            <a:srgbClr val="03045E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0" y="1905000"/>
            <a:ext cx="2540000" cy="4064000"/>
          </a:xfrm>
          <a:prstGeom prst="roundRect">
            <a:avLst>
              <a:gd name="adj" fmla="val 3000"/>
            </a:avLst>
          </a:prstGeom>
          <a:solidFill>
            <a:srgbClr val="03045E">
              <a:alpha val="90000"/>
            </a:srgbClr>
          </a:solidFill>
          <a:ln w="12700" cmpd="sng" cap="flat">
            <a:solidFill>
              <a:srgbClr val="0096C7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10000"/>
              </a:srgbClr>
            </a:outerShdw>
          </a:effectLst>
        </p:spPr>
        <p:txBody>
          <a:bodyPr anchor="t" rtlCol="false" anchorCtr="false" vert="horz" wrap="square" lIns="254000" rIns="254000" tIns="2540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AF0F8"/>
                </a:solidFill>
                <a:latin typeface="DM Sans 9pt"/>
                <a:ea typeface="DM Sans 9pt"/>
                <a:cs typeface="DM Sans 9pt"/>
                <a:sym typeface="DM Sans 9pt"/>
              </a:rPr>
              <a:t>3. Data &amp; Infra</a:t>
            </a:r>
            <a: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48CAE4"/>
                </a:solidFill>
                <a:latin typeface="DM Sans 9pt"/>
                <a:ea typeface="DM Sans 9pt"/>
                <a:cs typeface="DM Sans 9pt"/>
                <a:sym typeface="DM Sans 9pt"/>
              </a:rPr>
              <a:t>Relational &amp; Vector</a:t>
            </a:r>
            <a: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RDS PostgreSQL 17 + pgvector (Private Subnets)</a:t>
            </a:r>
            <a: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48CAE4"/>
                </a:solidFill>
                <a:latin typeface="DM Sans 9pt"/>
                <a:ea typeface="DM Sans 9pt"/>
                <a:cs typeface="DM Sans 9pt"/>
                <a:sym typeface="DM Sans 9pt"/>
              </a:rPr>
              <a:t>Supporting Infra</a:t>
            </a:r>
            <a: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Amazon ECR</a:t>
            </a:r>
            <a: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b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</a:br>
            <a:r>
              <a:rPr lang="en-US" b="false" i="false" strike="noStrike" u="none" sz="14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CloudWatch</a:t>
            </a:r>
            <a: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br>
              <a:rPr lang="en-US" b="false" i="false" strike="noStrike" u="none" sz="16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</a:br>
            <a:r>
              <a:rPr lang="en-US" b="false" i="false" strike="noStrike" u="none" sz="14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SSM (ECS Exec)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6159500"/>
            <a:ext cx="10668000" cy="508000"/>
          </a:xfrm>
          <a:prstGeom prst="roundRect">
            <a:avLst>
              <a:gd name="adj" fmla="val 2000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Scale-to-zero capability</a:t>
            </a:r>
            <a:r>
              <a:rPr lang="en-US" b="false" i="false" strike="noStrike" u="none" sz="14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 • </a:t>
            </a:r>
            <a:r>
              <a:rPr lang="en-US" b="true" i="false" strike="noStrike" u="none" sz="14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Isolated Data Schemas</a:t>
            </a:r>
            <a:r>
              <a:rPr lang="en-US" b="false" i="false" strike="noStrike" u="none" sz="14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 • </a:t>
            </a:r>
            <a:r>
              <a:rPr lang="en-US" b="true" i="false" strike="noStrike" u="none" sz="14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No EC2 management overhead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419" t="0" r="-419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Deployment strategy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304800" rIns="304800" tIns="2540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Containerization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Single Dockerfile template with build args (SERVICE_NAME, EXPOSE_PORT)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12 images built consistently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Tagged with Git SHA and :latest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223000" y="17780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304800" rIns="304800" tIns="2540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Deployment on AWS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ECS Fargate scale-to-zero serverless containers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Task definitions generated per service in CI/CD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</a:t>
            </a:r>
            <a:r>
              <a:rPr lang="en-US" b="false" i="false" strike="noStrike" u="none" sz="1600">
                <a:solidFill>
                  <a:srgbClr val="023E8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enable_execute_command = true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for ECS Exec debugging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191000"/>
            <a:ext cx="10668000" cy="2286000"/>
          </a:xfrm>
          <a:prstGeom prst="roundRect">
            <a:avLst>
              <a:gd name="adj" fmla="val 4444"/>
            </a:avLst>
          </a:prstGeom>
          <a:solidFill>
            <a:srgbClr val="CAF0F8">
              <a:alpha val="80000"/>
            </a:srgbClr>
          </a:solidFill>
          <a:ln w="12700" cmpd="sng" cap="flat">
            <a:solidFill>
              <a:srgbClr val="0096C7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381000" rIns="381000" tIns="3048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Rationale Behind Tech Choices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96C7"/>
                </a:solidFill>
                <a:latin typeface="DM Sans 9pt"/>
                <a:ea typeface="DM Sans 9pt"/>
                <a:cs typeface="DM Sans 9pt"/>
                <a:sym typeface="DM Sans 9pt"/>
              </a:rPr>
              <a:t>NestJS Monorepo: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Shared libs, consistent DI, TypeORM per service schema.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96C7"/>
                </a:solidFill>
                <a:latin typeface="DM Sans 9pt"/>
                <a:ea typeface="DM Sans 9pt"/>
                <a:cs typeface="DM Sans 9pt"/>
                <a:sym typeface="DM Sans 9pt"/>
              </a:rPr>
              <a:t>RabbitMQ over REST: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Decoupled async; agents don't block on domain services.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96C7"/>
                </a:solidFill>
                <a:latin typeface="DM Sans 9pt"/>
                <a:ea typeface="DM Sans 9pt"/>
                <a:cs typeface="DM Sans 9pt"/>
                <a:sym typeface="DM Sans 9pt"/>
              </a:rPr>
              <a:t>pgvector: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Semantic search co-located with relational data; simpler ops.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96C7"/>
                </a:solidFill>
                <a:latin typeface="DM Sans 9pt"/>
                <a:ea typeface="DM Sans 9pt"/>
                <a:cs typeface="DM Sans 9pt"/>
                <a:sym typeface="DM Sans 9pt"/>
              </a:rPr>
              <a:t>API Gateway + ALB: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Edge auth/CORS at the perimeter, robust path routing internally.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419" t="0" r="-419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 stack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651000"/>
          <a:ext cx="10668000" cy="416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56000"/>
                <a:gridCol w="7112000"/>
              </a:tblGrid>
              <a:tr h="5080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Layer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Technology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3045E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Backend Framework &amp; ORM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023E8A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NestJS (TypeScript) monorepo, TypeORM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3045E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AI / LLM &amp; Vector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023E8A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LangChain, LangGraph, GPT-4o, GPT-4o-mini, PostgreSQL 17 + pgvector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3045E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Event Bus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023E8A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RabbitMQ (AMQP)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3045E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Cloud Infrastructure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023E8A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AWS ECS Fargate, ALB, API Gateway v2, RDS, ECR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3045E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IaC &amp; Local Gateway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023E8A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Terraform, Kong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3045E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CI/CD &amp; Security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023E8A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GitHub Actions, Trivy (Container), SonarQube (SAST)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3045E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Observability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023E8A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LangSmith (LLM Eval), CloudWatch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3045E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Auth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023E8A"/>
                          </a:solidFill>
                          <a:latin typeface="DM Sans 9pt"/>
                          <a:ea typeface="DM Sans 9pt"/>
                          <a:cs typeface="DM Sans 9pt"/>
                          <a:sym typeface="DM Sans 9pt"/>
                        </a:rPr>
                        <a:t>JWT (RS256), bcrypt</a:t>
                      </a:r>
                      <a:endParaRPr lang="en-US" sz="1100"/>
                    </a:p>
                  </a:txBody>
                  <a:tcPr anchor="ctr" anchorCtr="false" marL="2032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419" t="0" r="-419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Orchestrator agent design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Purpose:</a:t>
            </a:r>
            <a:r>
              <a:rPr lang="en-US" b="false" i="false" strike="noStrike" u="none" sz="16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Entry point and coordinator for the entire pipeline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2286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03200" rIns="203200" tIns="2032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1. ROUTE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Receive via REST API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Semantic Router (Intent)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013200"/>
            <a:ext cx="2286000" cy="50800"/>
          </a:xfrm>
          <a:prstGeom prst="roundRect">
            <a:avLst>
              <a:gd name="adj" fmla="val 0"/>
            </a:avLst>
          </a:prstGeom>
          <a:solidFill>
            <a:srgbClr val="90E0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175000" y="2921000"/>
            <a:ext cx="381000" cy="254000"/>
          </a:xfrm>
          <a:prstGeom prst="rightArrow">
            <a:avLst/>
          </a:prstGeom>
          <a:solidFill>
            <a:srgbClr val="0096C7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683000" y="2159000"/>
            <a:ext cx="2286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96C7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03200" rIns="203200" tIns="2032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2. ACT/FAQ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Dispatch to Action/FAQ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PII redaction first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Moderation guards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683000" y="4013200"/>
            <a:ext cx="2286000" cy="508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0" y="2921000"/>
            <a:ext cx="381000" cy="254000"/>
          </a:xfrm>
          <a:prstGeom prst="rightArrow">
            <a:avLst/>
          </a:prstGeom>
          <a:solidFill>
            <a:srgbClr val="0096C7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159000"/>
            <a:ext cx="2286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3045E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03200" rIns="203200" tIns="2032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3. GUARDIAN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SOP compliance check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Approve / Reject action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4013200"/>
            <a:ext cx="2286000" cy="50800"/>
          </a:xfrm>
          <a:prstGeom prst="roundRect">
            <a:avLst>
              <a:gd name="adj" fmla="val 0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017000" y="2921000"/>
            <a:ext cx="381000" cy="254000"/>
          </a:xfrm>
          <a:prstGeom prst="rightArrow">
            <a:avLst/>
          </a:prstGeom>
          <a:solidFill>
            <a:srgbClr val="0096C7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0" y="2159000"/>
            <a:ext cx="1905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8CAE4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03200" rIns="203200" tIns="2032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4. RESPOND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Format reply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Push to QA Agent async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0" y="4013200"/>
            <a:ext cx="1905000" cy="50800"/>
          </a:xfrm>
          <a:prstGeom prst="roundRect">
            <a:avLst>
              <a:gd name="adj" fmla="val 0"/>
            </a:avLst>
          </a:prstGeom>
          <a:solidFill>
            <a:srgbClr val="48CA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572000"/>
            <a:ext cx="5207000" cy="1651000"/>
          </a:xfrm>
          <a:prstGeom prst="roundRect">
            <a:avLst>
              <a:gd name="adj" fmla="val 6153"/>
            </a:avLst>
          </a:prstGeom>
          <a:solidFill>
            <a:srgbClr val="CAF0F8">
              <a:alpha val="8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</p:spPr>
        <p:txBody>
          <a:bodyPr anchor="t" rtlCol="false" anchorCtr="false" vert="horz" wrap="square" lIns="254000" rIns="254000" tIns="2032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Memory Model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MemoryService maintains conversation history per </a:t>
            </a:r>
            <a:r>
              <a:rPr lang="en-US" b="false" i="false" strike="noStrike" u="none" sz="1400">
                <a:solidFill>
                  <a:srgbClr val="023E8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sessionId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(in-memory).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4572000"/>
            <a:ext cx="5207000" cy="1651000"/>
          </a:xfrm>
          <a:prstGeom prst="roundRect">
            <a:avLst>
              <a:gd name="adj" fmla="val 6153"/>
            </a:avLst>
          </a:prstGeom>
          <a:solidFill>
            <a:srgbClr val="CAF0F8">
              <a:alpha val="8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</p:spPr>
        <p:txBody>
          <a:bodyPr anchor="t" rtlCol="false" anchorCtr="false" vert="horz" wrap="square" lIns="254000" rIns="254000" tIns="2032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Available Tools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Route_To_Logistics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• </a:t>
            </a:r>
            <a:r>
              <a:rPr lang="en-US" b="false" i="false" strike="noStrike" u="none" sz="1400">
                <a:solidFill>
                  <a:srgbClr val="023E8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Route_To_Resolution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End_Chat_Session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• </a:t>
            </a:r>
            <a:r>
              <a:rPr lang="en-US" b="false" i="false" strike="noStrike" u="none" sz="1400">
                <a:solidFill>
                  <a:srgbClr val="023E8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Escalate_To_Human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419" t="0" r="-419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Specialist agents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54000" rIns="254000" tIns="2540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96C7"/>
                </a:solidFill>
                <a:latin typeface="DM Sans 9pt"/>
                <a:ea typeface="DM Sans 9pt"/>
                <a:cs typeface="DM Sans 9pt"/>
                <a:sym typeface="DM Sans 9pt"/>
              </a:rPr>
              <a:t>Logistics Agent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Tracking, ETA, and delay prediction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GPT-4o; queries Logistics service via RabbitMQ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</a:t>
            </a: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Memory: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Stateless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</a:t>
            </a: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Tools: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Get_Order_Status, Get_Shipment_ETA, Predict_Delay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" cy="22860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23000" y="165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54000" rIns="254000" tIns="2540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Resolution Agent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End-to-end refunds grounded by SOPs (pgvector)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Returns structured JSON: status, orderId, amount, summary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Auto-approves ≤ $20 refunds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Escalates amounts &gt; $20 to Guardian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0800" cy="2286000"/>
          </a:xfrm>
          <a:prstGeom prst="roundRect">
            <a:avLst>
              <a:gd name="adj" fmla="val 0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1910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54000" rIns="254000" tIns="2540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8CAE4"/>
                </a:solidFill>
                <a:latin typeface="DM Sans 9pt"/>
                <a:ea typeface="DM Sans 9pt"/>
                <a:cs typeface="DM Sans 9pt"/>
                <a:sym typeface="DM Sans 9pt"/>
              </a:rPr>
              <a:t>Guardian Agent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SOP compliance gate for all actions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Approves or rejects with detailed explanation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Limits to 3 rejection cycles → then human escalation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191000"/>
            <a:ext cx="50800" cy="2032000"/>
          </a:xfrm>
          <a:prstGeom prst="roundRect">
            <a:avLst>
              <a:gd name="adj" fmla="val 0"/>
            </a:avLst>
          </a:prstGeom>
          <a:solidFill>
            <a:srgbClr val="48CA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41910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54000" rIns="254000" tIns="2540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QA Agent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Async post-session scoring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Evaluates: accuracy, SOP compliance, sentiment, quality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Aggregates trends via scheduled cron job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4191000"/>
            <a:ext cx="50800" cy="2032000"/>
          </a:xfrm>
          <a:prstGeom prst="roundRect">
            <a:avLst>
              <a:gd name="adj" fmla="val 0"/>
            </a:avLst>
          </a:prstGeom>
          <a:solidFill>
            <a:srgbClr val="023E8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419" t="0" r="-419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Production readiness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MLSecOps / LLMSecOps Pipeline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4826000" cy="1143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03200" rIns="0" tIns="1524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96C7"/>
                </a:solidFill>
                <a:latin typeface="DM Sans 9pt"/>
                <a:ea typeface="DM Sans 9pt"/>
                <a:cs typeface="DM Sans 9pt"/>
                <a:sym typeface="DM Sans 9pt"/>
              </a:rPr>
              <a:t>1. CI &amp; Eval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Trivy scan, ESLint, SonarQube SAST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LangSmith eval gates (Orchestrator, QA, Guardian)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048000" y="3238500"/>
            <a:ext cx="254000" cy="254000"/>
          </a:xfrm>
          <a:prstGeom prst="downArrow">
            <a:avLst/>
          </a:prstGeom>
          <a:solidFill>
            <a:srgbClr val="0096C7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556000"/>
            <a:ext cx="4826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03200" rIns="0" tIns="1524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2. Build &amp; Push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Build 12 microservice images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Tag with Git SHA + :latest, push to ECR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048000" y="4635500"/>
            <a:ext cx="254000" cy="254000"/>
          </a:xfrm>
          <a:prstGeom prst="downArrow">
            <a:avLst/>
          </a:prstGeom>
          <a:solidFill>
            <a:srgbClr val="03045E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953000"/>
            <a:ext cx="4826000" cy="1016000"/>
          </a:xfrm>
          <a:prstGeom prst="roundRect">
            <a:avLst>
              <a:gd name="adj" fmla="val 7500"/>
            </a:avLst>
          </a:prstGeom>
          <a:solidFill>
            <a:srgbClr val="CAF0F8">
              <a:alpha val="100000"/>
            </a:srgbClr>
          </a:solidFill>
          <a:ln w="12700" cmpd="sng" cap="flat">
            <a:solidFill>
              <a:srgbClr val="0096C7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03200" rIns="0" tIns="1524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3. Deploy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Generate ECS task definitions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Matrix deploy to Fargate with force-new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0" y="2032000"/>
            <a:ext cx="5334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54000" rIns="254000" tIns="2032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Testing Summary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Unit/Integration: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Jest &amp; Supertest passing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Security: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No critical CVEs (Trivy), no SAST blockers (SonarQube)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LangSmith Evals: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Verified routing accuracy, Guardian compliance, QA consistency, Resolution JSON formatting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4191000"/>
            <a:ext cx="5334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54000" rIns="254000" tIns="2032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Live Demo Flow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1. Login &amp; Start Chat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2. Refund Request → ACTION route → Resolution Agent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3. Guardian Agent approves action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4. Refund JSON returned → QA Agent scores async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419" t="0" r="-419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3045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Responsible AI &amp; Security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4610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96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4826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54000" rIns="254000" tIns="2540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96C7"/>
                </a:solidFill>
                <a:latin typeface="DM Sans 9pt"/>
                <a:ea typeface="DM Sans 9pt"/>
                <a:cs typeface="DM Sans 9pt"/>
                <a:sym typeface="DM Sans 9pt"/>
              </a:rPr>
              <a:t>Explainable &amp; Responsible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</a:t>
            </a: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Explainability: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JSON includes decision summaries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</a:t>
            </a: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Fairness: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Decisions grounded in SOPs, not LLM opinion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</a:t>
            </a: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Privacy: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Redaction of name/email/phone/NRIC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</a:t>
            </a: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Human in Loop: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Guardian gate &amp; escalation paths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</a:t>
            </a: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Transparency: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Full LangSmith traces and audit trails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0" y="1778000"/>
            <a:ext cx="4826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90E0EF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5000"/>
              </a:srgbClr>
            </a:outerShdw>
          </a:effectLst>
        </p:spPr>
        <p:txBody>
          <a:bodyPr anchor="t" rtlCol="false" anchorCtr="false" vert="horz" wrap="square" lIns="254000" rIns="254000" tIns="25400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3045E"/>
                </a:solidFill>
                <a:latin typeface="DM Sans 9pt"/>
                <a:ea typeface="DM Sans 9pt"/>
                <a:cs typeface="DM Sans 9pt"/>
                <a:sym typeface="DM Sans 9pt"/>
              </a:rPr>
              <a:t>AI Security Guardrails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</a:t>
            </a: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Jailbreak / Prompt Injection: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Moderation service + prompt isolation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</a:t>
            </a: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Hallucinations: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pgvector SOP grounding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</a:t>
            </a: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Excessive LLM Authority: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Strict tool-based limits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• </a:t>
            </a:r>
            <a:r>
              <a:rPr lang="en-US" b="tru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Secrets &amp; Rate Limits:</a:t>
            </a:r>
            <a:r>
              <a:rPr lang="en-US" b="false" i="false" strike="noStrike" u="none" sz="1400">
                <a:solidFill>
                  <a:srgbClr val="023E8A"/>
                </a:solidFill>
                <a:latin typeface="DM Sans 9pt"/>
                <a:ea typeface="DM Sans 9pt"/>
                <a:cs typeface="DM Sans 9pt"/>
                <a:sym typeface="DM Sans 9pt"/>
              </a:rPr>
              <a:t> AWS Secrets Manager, API Gateway rate limits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826000"/>
            <a:ext cx="10160000" cy="1270000"/>
          </a:xfrm>
          <a:prstGeom prst="roundRect">
            <a:avLst>
              <a:gd name="adj" fmla="val 8000"/>
            </a:avLst>
          </a:prstGeom>
          <a:solidFill>
            <a:srgbClr val="03045E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1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8CAE4"/>
                </a:solidFill>
                <a:latin typeface="DM Sans 9pt"/>
                <a:ea typeface="DM Sans 9pt"/>
                <a:cs typeface="DM Sans 9pt"/>
                <a:sym typeface="DM Sans 9pt"/>
              </a:rPr>
              <a:t>Thank you</a:t>
            </a:r>
            <a:r>
              <a:rPr lang="en-US" b="false" i="false" strike="noStrike" u="none" sz="18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DM Sans 9pt"/>
                <a:ea typeface="DM Sans 9pt"/>
                <a:cs typeface="DM Sans 9pt"/>
                <a:sym typeface="DM Sans 9pt"/>
              </a:rPr>
              <a:t>Agentic AI with deterministic guardrails — production-grade on AWS Fargate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